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8D4"/>
                </a:solidFill>
              </a:defRPr>
            </a:pPr>
            <a:r>
              <a:t>KetzAgenticEcomm: Why Azure?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3 Unique Microsoft Capabilities That Change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078D4"/>
                </a:solidFill>
              </a:defRPr>
            </a:pPr>
            <a:r>
              <a:t>1. GPT-4o Realtime API</a:t>
            </a:r>
          </a:p>
          <a:p>
            <a:pPr>
              <a:spcAft>
                <a:spcPts val="400"/>
              </a:spcAft>
              <a:defRPr sz="1600"/>
            </a:pPr>
            <a:r>
              <a:t>   • AZURE EXCLUSIVE - Not available on AWS or Google</a:t>
            </a:r>
          </a:p>
          <a:p>
            <a:pPr>
              <a:spcAft>
                <a:spcPts val="400"/>
              </a:spcAft>
              <a:defRPr sz="1600"/>
            </a:pPr>
            <a:r>
              <a:t>   • &lt;300ms voice latency with native barge-in</a:t>
            </a:r>
          </a:p>
          <a:p>
            <a:pPr>
              <a:spcAft>
                <a:spcPts val="1200"/>
              </a:spcAft>
              <a:defRPr sz="1600"/>
            </a:pPr>
            <a:r>
              <a:t>   • Built-in function calling from voice commands</a:t>
            </a:r>
          </a:p>
          <a:p>
            <a:pPr>
              <a:spcAft>
                <a:spcPts val="600"/>
              </a:spcAft>
              <a:defRPr sz="2400" b="1">
                <a:solidFill>
                  <a:srgbClr val="0078D4"/>
                </a:solidFill>
              </a:defRPr>
            </a:pPr>
            <a:r>
              <a:t>2. Unified AI Search Platform</a:t>
            </a:r>
          </a:p>
          <a:p>
            <a:pPr>
              <a:spcAft>
                <a:spcPts val="400"/>
              </a:spcAft>
              <a:defRPr sz="1600"/>
            </a:pPr>
            <a:r>
              <a:t>   • Vector + Semantic + Keyword in ONE index (not on AWS/Google)</a:t>
            </a:r>
          </a:p>
          <a:p>
            <a:pPr>
              <a:spcAft>
                <a:spcPts val="400"/>
              </a:spcAft>
              <a:defRPr sz="1600"/>
            </a:pPr>
            <a:r>
              <a:t>   • Native agentic retrieval - Query decomposition built-in</a:t>
            </a:r>
          </a:p>
          <a:p>
            <a:pPr>
              <a:spcAft>
                <a:spcPts val="1200"/>
              </a:spcAft>
              <a:defRPr sz="1600"/>
            </a:pPr>
            <a:r>
              <a:t>   • Live synonym updates without reindexing</a:t>
            </a:r>
          </a:p>
          <a:p>
            <a:pPr>
              <a:spcAft>
                <a:spcPts val="600"/>
              </a:spcAft>
              <a:defRPr sz="2400" b="1">
                <a:solidFill>
                  <a:srgbClr val="0078D4"/>
                </a:solidFill>
              </a:defRPr>
            </a:pPr>
            <a:r>
              <a:t>3. Enterprise GPT-4o with Guarantees</a:t>
            </a:r>
          </a:p>
          <a:p>
            <a:pPr>
              <a:spcAft>
                <a:spcPts val="400"/>
              </a:spcAft>
              <a:defRPr sz="1600"/>
            </a:pPr>
            <a:r>
              <a:t>   • Data residency + No training on customer data (contractual)</a:t>
            </a:r>
          </a:p>
          <a:p>
            <a:pPr>
              <a:spcAft>
                <a:spcPts val="400"/>
              </a:spcAft>
              <a:defRPr sz="1600"/>
            </a:pPr>
            <a:r>
              <a:t>   • Latest models: GPT-4o, GPT-4o Vision (AWS/Google have older models)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Azure vs AWS/Google: Quick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078D4"/>
                </a:solidFill>
              </a:defRPr>
            </a:pPr>
            <a:r>
              <a:t>Azure (Unified Platform) ✅</a:t>
            </a:r>
          </a:p>
          <a:p>
            <a:pPr>
              <a:spcAft>
                <a:spcPts val="600"/>
              </a:spcAft>
              <a:defRPr sz="1600"/>
            </a:pPr>
            <a:r>
              <a:t>Voice: GPT-4o Realtime</a:t>
            </a:r>
          </a:p>
          <a:p>
            <a:pPr lvl="1">
              <a:spcAft>
                <a:spcPts val="800"/>
              </a:spcAft>
              <a:defRPr sz="1400"/>
            </a:pPr>
            <a:r>
              <a:t>Native WebRTC, &lt;300ms</a:t>
            </a:r>
          </a:p>
          <a:p>
            <a:pPr>
              <a:spcAft>
                <a:spcPts val="600"/>
              </a:spcAft>
              <a:defRPr sz="1600"/>
            </a:pPr>
            <a:r>
              <a:t>Search: AI Search</a:t>
            </a:r>
          </a:p>
          <a:p>
            <a:pPr lvl="1">
              <a:spcAft>
                <a:spcPts val="800"/>
              </a:spcAft>
              <a:defRPr sz="1400"/>
            </a:pPr>
            <a:r>
              <a:t>Vector+Semantic+Keyword</a:t>
            </a:r>
          </a:p>
          <a:p>
            <a:pPr>
              <a:spcAft>
                <a:spcPts val="600"/>
              </a:spcAft>
              <a:defRPr sz="1600"/>
            </a:pPr>
            <a:r>
              <a:t>Agentic: Knowledge Bases</a:t>
            </a:r>
          </a:p>
          <a:p>
            <a:pPr lvl="1">
              <a:spcAft>
                <a:spcPts val="800"/>
              </a:spcAft>
              <a:defRPr sz="1400"/>
            </a:pPr>
            <a:r>
              <a:t>Auto query decomposition</a:t>
            </a:r>
          </a:p>
          <a:p>
            <a:pPr>
              <a:spcAft>
                <a:spcPts val="600"/>
              </a:spcAft>
              <a:defRPr sz="1600"/>
            </a:pPr>
            <a:r>
              <a:t>Synonyms: Live Updates</a:t>
            </a:r>
          </a:p>
          <a:p>
            <a:pPr lvl="1">
              <a:defRPr sz="1400"/>
            </a:pPr>
            <a:r>
              <a:t>No reindexing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C85000"/>
                </a:solidFill>
              </a:defRPr>
            </a:pPr>
            <a:r>
              <a:t>AWS/Google (Patchwork) ⚠️</a:t>
            </a:r>
          </a:p>
          <a:p>
            <a:pPr>
              <a:spcAft>
                <a:spcPts val="600"/>
              </a:spcAft>
              <a:defRPr sz="1600"/>
            </a:pPr>
            <a:r>
              <a:t>Voice: Lex + Polly + Lambda</a:t>
            </a:r>
          </a:p>
          <a:p>
            <a:pPr lvl="1">
              <a:spcAft>
                <a:spcPts val="800"/>
              </a:spcAft>
              <a:defRPr sz="1400">
                <a:solidFill>
                  <a:srgbClr val="969696"/>
                </a:solidFill>
              </a:defRPr>
            </a:pPr>
            <a:r>
              <a:t>Custom orchestration, ~1-2s</a:t>
            </a:r>
          </a:p>
          <a:p>
            <a:pPr>
              <a:spcAft>
                <a:spcPts val="600"/>
              </a:spcAft>
              <a:defRPr sz="1600"/>
            </a:pPr>
            <a:r>
              <a:t>Search: OpenSearch (separate)</a:t>
            </a:r>
          </a:p>
          <a:p>
            <a:pPr lvl="1">
              <a:spcAft>
                <a:spcPts val="800"/>
              </a:spcAft>
              <a:defRPr sz="1400">
                <a:solidFill>
                  <a:srgbClr val="969696"/>
                </a:solidFill>
              </a:defRPr>
            </a:pPr>
            <a:r>
              <a:t>No unified index</a:t>
            </a:r>
          </a:p>
          <a:p>
            <a:pPr>
              <a:spcAft>
                <a:spcPts val="600"/>
              </a:spcAft>
              <a:defRPr sz="1600"/>
            </a:pPr>
            <a:r>
              <a:t>Agentic: Bedrock Agents</a:t>
            </a:r>
          </a:p>
          <a:p>
            <a:pPr lvl="1">
              <a:spcAft>
                <a:spcPts val="800"/>
              </a:spcAft>
              <a:defRPr sz="1400">
                <a:solidFill>
                  <a:srgbClr val="969696"/>
                </a:solidFill>
              </a:defRPr>
            </a:pPr>
            <a:r>
              <a:t>Requires Lambda orchestration</a:t>
            </a:r>
          </a:p>
          <a:p>
            <a:pPr>
              <a:spcAft>
                <a:spcPts val="600"/>
              </a:spcAft>
              <a:defRPr sz="1600"/>
            </a:pPr>
            <a:r>
              <a:t>Synonyms: Reindex Required</a:t>
            </a:r>
          </a:p>
          <a:p>
            <a:pPr lvl="1">
              <a:defRPr sz="1400">
                <a:solidFill>
                  <a:srgbClr val="969696"/>
                </a:solidFill>
              </a:defRPr>
            </a:pPr>
            <a:r>
              <a:t>Downtime for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Key Takeaway: Azure = One unified platform. AWS/Google = 5-6 services to stitch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